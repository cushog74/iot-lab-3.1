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42850"/>
                </a:solidFill>
              </a:defRPr>
            </a:pPr>
            <a:r>
              <a:t>Схемы и диаграммы для распределённых систем IoT (Edge/Fog/Cloud)</a:t>
            </a:r>
          </a:p>
          <a:p>
            <a:r>
              <a:t>и быстрая сборка в PlantUML Online</a:t>
            </a:r>
          </a:p>
        </p:txBody>
      </p:sp>
      <p:pic>
        <p:nvPicPr>
          <p:cNvPr id="3" name="Picture 2" descr="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Краткое методическое руководство на 5–7 слайдов. Проверенные стандарты и практики без фантазий.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ДГТУ · ЮНЦ РАН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7517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142850"/>
                </a:solidFill>
              </a:defRPr>
            </a:pPr>
            <a:r>
              <a:rPr lang="ru-RU" dirty="0"/>
              <a:t>Д</a:t>
            </a:r>
            <a:r>
              <a:rPr dirty="0" err="1"/>
              <a:t>окументы</a:t>
            </a:r>
            <a:r>
              <a:rPr dirty="0"/>
              <a:t> и </a:t>
            </a:r>
            <a:r>
              <a:rPr dirty="0" err="1"/>
              <a:t>стандарты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rPr dirty="0" err="1"/>
              <a:t>ГОСТ</a:t>
            </a:r>
            <a:r>
              <a:rPr dirty="0"/>
              <a:t> 2.701 — «</a:t>
            </a:r>
            <a:r>
              <a:rPr lang="ru-RU" i="0" dirty="0">
                <a:solidFill>
                  <a:srgbClr val="333333"/>
                </a:solidFill>
                <a:effectLst/>
                <a:latin typeface="YS Text"/>
              </a:rPr>
              <a:t>Единая система конструкторской документации (</a:t>
            </a:r>
            <a:r>
              <a:rPr lang="ru-RU" i="0" dirty="0" err="1">
                <a:solidFill>
                  <a:srgbClr val="333333"/>
                </a:solidFill>
                <a:effectLst/>
                <a:latin typeface="YS Text"/>
              </a:rPr>
              <a:t>ЕСКД</a:t>
            </a:r>
            <a:r>
              <a:rPr lang="ru-RU" i="0" dirty="0">
                <a:solidFill>
                  <a:srgbClr val="333333"/>
                </a:solidFill>
                <a:effectLst/>
                <a:latin typeface="YS Text"/>
              </a:rPr>
              <a:t>). Схемы. Виды и типы. Общие требования к выполнению</a:t>
            </a:r>
            <a:r>
              <a:rPr dirty="0"/>
              <a:t>». </a:t>
            </a:r>
            <a:r>
              <a:rPr lang="ru-RU" dirty="0"/>
              <a:t>Н</a:t>
            </a:r>
            <a:r>
              <a:rPr dirty="0" err="1"/>
              <a:t>азначение</a:t>
            </a:r>
            <a:r>
              <a:rPr dirty="0"/>
              <a:t> и </a:t>
            </a:r>
            <a:r>
              <a:rPr dirty="0" err="1"/>
              <a:t>классификаци</a:t>
            </a:r>
            <a:r>
              <a:rPr lang="ru-RU" dirty="0"/>
              <a:t>я</a:t>
            </a:r>
            <a:r>
              <a:rPr dirty="0"/>
              <a:t> </a:t>
            </a:r>
            <a:r>
              <a:rPr dirty="0" err="1"/>
              <a:t>схем</a:t>
            </a:r>
            <a:r>
              <a:rPr dirty="0"/>
              <a:t>.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 err="1"/>
              <a:t>ГОСТ</a:t>
            </a:r>
            <a:r>
              <a:rPr dirty="0"/>
              <a:t> 2.702 — «</a:t>
            </a:r>
            <a:r>
              <a:rPr lang="ru-RU" i="0" dirty="0">
                <a:solidFill>
                  <a:srgbClr val="333333"/>
                </a:solidFill>
                <a:effectLst/>
                <a:latin typeface="YS Text"/>
              </a:rPr>
              <a:t>Единая система конструкторской документации. Правила выполнения электрических схем</a:t>
            </a:r>
            <a:r>
              <a:rPr dirty="0"/>
              <a:t>». </a:t>
            </a:r>
            <a:r>
              <a:rPr lang="ru-RU" dirty="0"/>
              <a:t>Графика</a:t>
            </a:r>
            <a:r>
              <a:rPr dirty="0"/>
              <a:t>, </a:t>
            </a:r>
            <a:r>
              <a:rPr dirty="0" err="1"/>
              <a:t>обозначени</a:t>
            </a:r>
            <a:r>
              <a:rPr lang="ru-RU" dirty="0"/>
              <a:t>я</a:t>
            </a:r>
            <a:r>
              <a:rPr dirty="0"/>
              <a:t> и </a:t>
            </a:r>
            <a:r>
              <a:rPr dirty="0" err="1"/>
              <a:t>связ</a:t>
            </a:r>
            <a:r>
              <a:rPr lang="ru-RU" dirty="0"/>
              <a:t>и</a:t>
            </a:r>
            <a:r>
              <a:rPr dirty="0"/>
              <a:t>.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 err="1"/>
              <a:t>ГОСТ</a:t>
            </a:r>
            <a:r>
              <a:rPr dirty="0"/>
              <a:t> 34.201 — </a:t>
            </a:r>
            <a:r>
              <a:rPr lang="ru-RU" dirty="0"/>
              <a:t>«</a:t>
            </a:r>
            <a:r>
              <a:rPr lang="ru-RU" i="0" dirty="0">
                <a:solidFill>
                  <a:srgbClr val="333333"/>
                </a:solidFill>
                <a:effectLst/>
                <a:latin typeface="YS Text"/>
              </a:rPr>
              <a:t>Информационные технологии. Комплекс стандартов на автоматизированные системы. Виды, комплектность и обозначение документов при создании автоматизированных систем</a:t>
            </a:r>
            <a:r>
              <a:rPr lang="ru-RU" dirty="0"/>
              <a:t>». С</a:t>
            </a:r>
            <a:r>
              <a:rPr dirty="0" err="1"/>
              <a:t>остав</a:t>
            </a:r>
            <a:r>
              <a:rPr dirty="0"/>
              <a:t> и </a:t>
            </a:r>
            <a:r>
              <a:rPr dirty="0" err="1"/>
              <a:t>обозначение</a:t>
            </a:r>
            <a:r>
              <a:rPr dirty="0"/>
              <a:t> </a:t>
            </a:r>
            <a:r>
              <a:rPr dirty="0" err="1"/>
              <a:t>документов</a:t>
            </a:r>
            <a:r>
              <a:rPr dirty="0"/>
              <a:t> </a:t>
            </a:r>
            <a:r>
              <a:rPr lang="ru-RU" dirty="0"/>
              <a:t>для </a:t>
            </a:r>
            <a:r>
              <a:rPr dirty="0" err="1"/>
              <a:t>автоматизированных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.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 err="1"/>
              <a:t>ГОСТ</a:t>
            </a:r>
            <a:r>
              <a:rPr dirty="0"/>
              <a:t> Р 57193 </a:t>
            </a:r>
            <a:r>
              <a:rPr lang="ru-RU" dirty="0"/>
              <a:t> —  «Системная и программная инженерия. Процессы жизненного цикла систем». Полный жизненный цикл системы, включая замысел, разработку, производство, эксплуатацию и снятие с эксплуатации систем, приобретение и постава систем. 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lang="en-US" dirty="0"/>
              <a:t>ISO/IEC/IEEE 15288</a:t>
            </a:r>
            <a:endParaRPr dirty="0"/>
          </a:p>
        </p:txBody>
      </p:sp>
      <p:pic>
        <p:nvPicPr>
          <p:cNvPr id="4" name="Picture 3" descr="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146304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Опоры: ГОСТ 2.701; ГОСТ 2.702; ГОСТ 34.201‑2020; ГОСТ Р 57193‑2016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1906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142850"/>
                </a:solidFill>
              </a:defRPr>
            </a:pPr>
            <a:r>
              <a:rPr dirty="0" err="1"/>
              <a:t>Типы</a:t>
            </a:r>
            <a:r>
              <a:rPr dirty="0"/>
              <a:t> </a:t>
            </a:r>
            <a:r>
              <a:rPr dirty="0" err="1"/>
              <a:t>схем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ГОСТ</a:t>
            </a:r>
            <a:r>
              <a:rPr dirty="0"/>
              <a:t> 2.701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430000" cy="4525963"/>
          </a:xfrm>
        </p:spPr>
        <p:txBody>
          <a:bodyPr/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rPr dirty="0" err="1"/>
              <a:t>Структурная</a:t>
            </a:r>
            <a:r>
              <a:rPr dirty="0"/>
              <a:t> —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функциональные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(Edge/Fog/Cloud) и </a:t>
            </a:r>
            <a:r>
              <a:rPr dirty="0" err="1"/>
              <a:t>связи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ними</a:t>
            </a:r>
            <a:r>
              <a:rPr dirty="0"/>
              <a:t>.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 err="1"/>
              <a:t>Функциональная</a:t>
            </a:r>
            <a:r>
              <a:rPr dirty="0"/>
              <a:t> — </a:t>
            </a:r>
            <a:r>
              <a:rPr dirty="0" err="1"/>
              <a:t>процессы</a:t>
            </a:r>
            <a:r>
              <a:rPr dirty="0"/>
              <a:t>/</a:t>
            </a: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и </a:t>
            </a:r>
            <a:r>
              <a:rPr dirty="0" err="1"/>
              <a:t>управления</a:t>
            </a:r>
            <a:r>
              <a:rPr dirty="0"/>
              <a:t> (</a:t>
            </a:r>
            <a:r>
              <a:rPr dirty="0" err="1"/>
              <a:t>события</a:t>
            </a:r>
            <a:r>
              <a:rPr lang="ru-RU" dirty="0"/>
              <a:t>, </a:t>
            </a:r>
            <a:r>
              <a:rPr dirty="0" err="1"/>
              <a:t>задержки</a:t>
            </a:r>
            <a:r>
              <a:rPr lang="ru-RU" dirty="0"/>
              <a:t> и т.д.</a:t>
            </a:r>
            <a:r>
              <a:rPr dirty="0"/>
              <a:t>).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 err="1"/>
              <a:t>Принципиальная</a:t>
            </a:r>
            <a:r>
              <a:rPr dirty="0"/>
              <a:t> —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элементов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электроники</a:t>
            </a:r>
            <a:r>
              <a:rPr dirty="0"/>
              <a:t> и </a:t>
            </a:r>
            <a:r>
              <a:rPr dirty="0" err="1"/>
              <a:t>логики</a:t>
            </a:r>
            <a:r>
              <a:rPr dirty="0"/>
              <a:t> (</a:t>
            </a:r>
            <a:r>
              <a:rPr dirty="0" err="1"/>
              <a:t>датчики</a:t>
            </a:r>
            <a:r>
              <a:rPr dirty="0"/>
              <a:t>, </a:t>
            </a:r>
            <a:r>
              <a:rPr dirty="0" err="1"/>
              <a:t>интерфейсы</a:t>
            </a:r>
            <a:r>
              <a:rPr dirty="0"/>
              <a:t>).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rPr dirty="0" err="1"/>
              <a:t>Соединений</a:t>
            </a:r>
            <a:r>
              <a:rPr dirty="0"/>
              <a:t>/</a:t>
            </a:r>
            <a:r>
              <a:rPr dirty="0" err="1"/>
              <a:t>подключения</a:t>
            </a:r>
            <a:r>
              <a:rPr dirty="0"/>
              <a:t>/</a:t>
            </a:r>
            <a:r>
              <a:rPr dirty="0" err="1"/>
              <a:t>расположения</a:t>
            </a:r>
            <a:r>
              <a:rPr dirty="0"/>
              <a:t> — </a:t>
            </a:r>
            <a:r>
              <a:rPr dirty="0" err="1"/>
              <a:t>топология</a:t>
            </a:r>
            <a:r>
              <a:rPr dirty="0"/>
              <a:t> </a:t>
            </a:r>
            <a:r>
              <a:rPr dirty="0" err="1"/>
              <a:t>портов</a:t>
            </a:r>
            <a:r>
              <a:rPr dirty="0"/>
              <a:t>, </a:t>
            </a:r>
            <a:r>
              <a:rPr lang="ru-RU" dirty="0"/>
              <a:t>шин, </a:t>
            </a:r>
            <a:r>
              <a:rPr dirty="0" err="1"/>
              <a:t>кабелей</a:t>
            </a:r>
            <a:r>
              <a:rPr dirty="0"/>
              <a:t>, </a:t>
            </a:r>
            <a:r>
              <a:rPr dirty="0" err="1"/>
              <a:t>размещения</a:t>
            </a:r>
            <a:r>
              <a:rPr dirty="0"/>
              <a:t> </a:t>
            </a:r>
            <a:r>
              <a:rPr dirty="0" err="1"/>
              <a:t>узлов</a:t>
            </a:r>
            <a:r>
              <a:rPr lang="ru-RU" dirty="0"/>
              <a:t> и т.д.</a:t>
            </a:r>
            <a:endParaRPr dirty="0"/>
          </a:p>
        </p:txBody>
      </p:sp>
      <p:pic>
        <p:nvPicPr>
          <p:cNvPr id="4" name="Picture 3" descr="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146304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37760"/>
            <a:ext cx="604562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rPr lang="ru-RU" dirty="0"/>
              <a:t>Примечание</a:t>
            </a:r>
            <a:r>
              <a:rPr dirty="0"/>
              <a:t>: </a:t>
            </a:r>
            <a:endParaRPr lang="ru-RU" dirty="0"/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dirty="0" err="1"/>
              <a:t>для</a:t>
            </a:r>
            <a:r>
              <a:rPr dirty="0"/>
              <a:t> IoT/Edge/Fog— </a:t>
            </a:r>
            <a:r>
              <a:rPr dirty="0" err="1"/>
              <a:t>структурные</a:t>
            </a:r>
            <a:r>
              <a:rPr dirty="0"/>
              <a:t> и </a:t>
            </a:r>
            <a:r>
              <a:rPr dirty="0" err="1"/>
              <a:t>функциональные</a:t>
            </a:r>
            <a:r>
              <a:rPr dirty="0"/>
              <a:t> </a:t>
            </a:r>
            <a:r>
              <a:rPr dirty="0" err="1"/>
              <a:t>схемы</a:t>
            </a:r>
            <a:r>
              <a:rPr dirty="0"/>
              <a:t>; </a:t>
            </a:r>
            <a:endParaRPr lang="ru-RU" dirty="0"/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аппаратной</a:t>
            </a:r>
            <a:r>
              <a:rPr dirty="0"/>
              <a:t> </a:t>
            </a:r>
            <a:r>
              <a:rPr dirty="0" err="1"/>
              <a:t>части</a:t>
            </a:r>
            <a:r>
              <a:rPr lang="ru-RU" dirty="0"/>
              <a:t> — принципиальные схемы. 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Классификация по ГОСТ 2.701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42850"/>
                </a:solidFill>
              </a:defRPr>
            </a:pPr>
            <a:r>
              <a:t>Диаграммы для распределённых систем IoT (UML/SysML ↔ ГОСТ)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Deployment — узлы и сети: Edge‑устройства, Fog‑шлюз (Home_Gateway), Cloud‑сервисы → структурная схема.</a:t>
            </a:r>
          </a:p>
          <a:p>
            <a:pPr>
              <a:defRPr sz="2200"/>
            </a:pPr>
            <a:r>
              <a:t>• Component — сервисы и драйверы (MQTT‑брокер, Ingestor, Threshold/ML) → структурная/функциональная.</a:t>
            </a:r>
          </a:p>
          <a:p>
            <a:pPr>
              <a:defRPr sz="2200"/>
            </a:pPr>
            <a:r>
              <a:t>• Sequence/Activity — обмены и потоки (publish/subscribe, алерты) → функциональная.</a:t>
            </a:r>
          </a:p>
          <a:p>
            <a:pPr>
              <a:defRPr sz="2200"/>
            </a:pPr>
            <a:r>
              <a:t>• State — режимы устройств/узлов (online/offline, in_work) → функциональная (состояний).</a:t>
            </a:r>
          </a:p>
          <a:p>
            <a:pPr>
              <a:defRPr sz="2200"/>
            </a:pPr>
            <a:r>
              <a:t>• Package/Context — границы подсистем, ответственность и уровни.</a:t>
            </a:r>
          </a:p>
        </p:txBody>
      </p:sp>
      <p:pic>
        <p:nvPicPr>
          <p:cNvPr id="4" name="Picture 3" descr="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146304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Сопоставление: UML ↔ ГОСТ 2.701 (структурная/функциональная)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42850"/>
                </a:solidFill>
              </a:defRPr>
            </a:pPr>
            <a:r>
              <a:t>PlantUML Online — шаги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Откройте plantuml.online, вставьте шаблон справа/слева — код/рендер.</a:t>
            </a:r>
          </a:p>
          <a:p>
            <a:pPr>
              <a:defRPr sz="2200"/>
            </a:pPr>
            <a:r>
              <a:t>• Выберите тип диаграммы: Deployment/Component/Sequence/… (@startuml … @enduml).</a:t>
            </a:r>
          </a:p>
          <a:p>
            <a:pPr>
              <a:defRPr sz="2200"/>
            </a:pPr>
            <a:r>
              <a:t>• Опишите Edge/Fog/Cloud как узлы; сети подпишите (MQTT, HTTPS, AMQP, BLE/Wi‑Fi).</a:t>
            </a:r>
          </a:p>
          <a:p>
            <a:pPr>
              <a:defRPr sz="2200"/>
            </a:pPr>
            <a:r>
              <a:t>• Экспортируйте SVG/PNG; исходники .puml храните в репозитории (версионирование).</a:t>
            </a:r>
          </a:p>
        </p:txBody>
      </p:sp>
      <p:pic>
        <p:nvPicPr>
          <p:cNvPr id="4" name="Picture 3" descr="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146304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42850"/>
                </a:solidFill>
              </a:defRPr>
            </a:pPr>
            <a:r>
              <a:t>Шаблон Deployment (Edge/Fog/Cloud)</a:t>
            </a:r>
          </a:p>
        </p:txBody>
      </p:sp>
      <p:pic>
        <p:nvPicPr>
          <p:cNvPr id="3" name="Picture 2" descr="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@startuml</a:t>
            </a:r>
            <a:br/>
            <a:r>
              <a:t>skinparam shadowing false</a:t>
            </a:r>
            <a:br/>
            <a:r>
              <a:t>skinparam defaultFontName Arial</a:t>
            </a:r>
            <a:br/>
            <a:r>
              <a:t>node "Edge: Wearable" as edge1</a:t>
            </a:r>
            <a:br/>
            <a:r>
              <a:t>node "Fog: Home_Gateway" as fog</a:t>
            </a:r>
            <a:br/>
            <a:r>
              <a:t>node "Cloud: Analytics" as cloud</a:t>
            </a:r>
            <a:br/>
            <a:r>
              <a:t>edge1 -[#gray]- fog : MQTT/BLE ↔ Wi‑Fi</a:t>
            </a:r>
            <a:br/>
            <a:r>
              <a:t>fog -[#gray]- cloud : HTTPS/AMQP</a:t>
            </a:r>
            <a:br/>
            <a:r>
              <a:t>@enduml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Вставьте в plantuml.online и экспортируйте SVG/PNG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42850"/>
                </a:solidFill>
              </a:defRPr>
            </a:pPr>
            <a:r>
              <a:t>Шаблон Component (сервисная логика и оповещения)</a:t>
            </a:r>
          </a:p>
        </p:txBody>
      </p:sp>
      <p:pic>
        <p:nvPicPr>
          <p:cNvPr id="3" name="Picture 2" descr="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146304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@startuml</a:t>
            </a:r>
            <a:br/>
            <a:r>
              <a:t>skinparam shadowing false</a:t>
            </a:r>
            <a:br/>
            <a:r>
              <a:t>skinparam defaultFontName Arial</a:t>
            </a:r>
            <a:br/>
            <a:r>
              <a:t>actor User as Marina</a:t>
            </a:r>
            <a:br/>
            <a:r>
              <a:t>component Broker &lt;&lt;MQTT&gt;&gt;</a:t>
            </a:r>
            <a:br/>
            <a:r>
              <a:t>component Ingestor</a:t>
            </a:r>
            <a:br/>
            <a:r>
              <a:t>component "Threshold Analyzer" as TA</a:t>
            </a:r>
            <a:br/>
            <a:r>
              <a:t>component "ML Service" as ML</a:t>
            </a:r>
            <a:br/>
            <a:r>
              <a:t>Marina --&gt; Broker : subscribe alerts</a:t>
            </a:r>
            <a:br/>
            <a:r>
              <a:t>Ingestor --&gt; TA : metrics</a:t>
            </a:r>
            <a:br/>
            <a:r>
              <a:t>Ingestor --&gt; ML : features</a:t>
            </a:r>
            <a:br/>
            <a:r>
              <a:t>TA --&gt; Marina : notifications</a:t>
            </a:r>
            <a:br/>
            <a:r>
              <a:t>@enduml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Пример компонентной диаграммы для оповещений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649</Words>
  <Application>Microsoft Office PowerPoint</Application>
  <PresentationFormat>Широкоэкранный</PresentationFormat>
  <Paragraphs>38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YS Text</vt:lpstr>
      <vt:lpstr>Office Theme</vt:lpstr>
      <vt:lpstr>Схемы и диаграммы для распределённых систем IoT (Edge/Fog/Cloud) и быстрая сборка в PlantUML Online</vt:lpstr>
      <vt:lpstr>Документы и стандарты</vt:lpstr>
      <vt:lpstr>Типы схем по ГОСТ 2.701</vt:lpstr>
      <vt:lpstr>Диаграммы для распределённых систем IoT (UML/SysML ↔ ГОСТ)</vt:lpstr>
      <vt:lpstr>PlantUML Online — шаги работы</vt:lpstr>
      <vt:lpstr>Шаблон Deployment (Edge/Fog/Cloud)</vt:lpstr>
      <vt:lpstr>Шаблон Component (сервисная логика и оповещения)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Схемы и диаграммы для распределённых систем IoT (Edge/Fog/Cloud) и быстрая сборка в PlantUML Online</dc:title>
  <dc:subject/>
  <dc:creator>marina</dc:creator>
  <cp:keywords/>
  <dc:description>generated using python-pptx</dc:description>
  <cp:lastModifiedBy>marina</cp:lastModifiedBy>
  <cp:revision>2</cp:revision>
  <dcterms:created xsi:type="dcterms:W3CDTF">2013-01-27T09:14:16Z</dcterms:created>
  <dcterms:modified xsi:type="dcterms:W3CDTF">2025-11-05T14:02:56Z</dcterms:modified>
  <cp:category/>
</cp:coreProperties>
</file>